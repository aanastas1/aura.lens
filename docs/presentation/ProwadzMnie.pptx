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comments+xml" PartName="/ppt/comments/comment1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commentAuthors+xml" PartName="/ppt/commentAuthors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1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5143500" cx="9144000"/>
  <p:notesSz cx="6858000" cy="9144000"/>
  <p:embeddedFontLst>
    <p:embeddedFont>
      <p:font typeface="Trispace"/>
      <p:regular r:id="rId15"/>
      <p:bold r:id="rId16"/>
    </p:embeddedFont>
    <p:embeddedFont>
      <p:font typeface="Dela Gothic One"/>
      <p:regular r:id="rId17"/>
    </p:embeddedFont>
    <p:embeddedFont>
      <p:font typeface="Noto Sans Symbols"/>
      <p:regular r:id="rId18"/>
      <p:bold r:id="rId1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Author clrIdx="0" id="0" initials="" lastIdx="2" name="Michal"/>
</p:cmAuthorLst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commentAuthors" Target="commentAuthor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Trispace-regular.fntdata"/><Relationship Id="rId14" Type="http://schemas.openxmlformats.org/officeDocument/2006/relationships/slide" Target="slides/slide9.xml"/><Relationship Id="rId17" Type="http://schemas.openxmlformats.org/officeDocument/2006/relationships/font" Target="fonts/DelaGothicOne-regular.fntdata"/><Relationship Id="rId16" Type="http://schemas.openxmlformats.org/officeDocument/2006/relationships/font" Target="fonts/Trispace-bold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NotoSansSymbols-bold.fntdata"/><Relationship Id="rId6" Type="http://schemas.openxmlformats.org/officeDocument/2006/relationships/slide" Target="slides/slide1.xml"/><Relationship Id="rId18" Type="http://schemas.openxmlformats.org/officeDocument/2006/relationships/font" Target="fonts/NotoSansSymbols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comments/comment1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1" dt="2026-10-18T00:49:15.837">
    <p:pos x="6000" y="0"/>
    <p:text>czym jest prowadzmnie
szybkie tldr</p:text>
  </p:cm>
  <p:cm authorId="0" idx="2" dt="2026-10-18T00:49:15.837">
    <p:pos x="6000" y="0"/>
    <p:text>ProwadźMnie to asystent AI w rozszerzonej rzeczywistości, który prowadzi seniora po mieście i podsuwa wydarzenia w okolicy dopasowane do jego zainteresowań i możliwości.</p:text>
  </p:cm>
</p:cmLst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h47ffe26f72c08cfc_1_1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h47ffe26f72c08cfc_1_18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h47ffe26f72c08cfc_1_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h47ffe26f72c08cfc_1_9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h47ffe26f72c08cfc_1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h47ffe26f72c08cfc_1_6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h47ffe26f72c08cfc_1_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h47ffe26f72c08cfc_1_7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h47ffe26f72c08cfc_1_1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h47ffe26f72c08cfc_1_10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h47ffe26f72c08cfc_1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h47ffe26f72c08cfc_1_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Relationship Id="rId3" Type="http://schemas.openxmlformats.org/officeDocument/2006/relationships/hyperlink" Target="http://bit.ly/2Tynxth" TargetMode="External"/><Relationship Id="rId4" Type="http://schemas.openxmlformats.org/officeDocument/2006/relationships/hyperlink" Target="http://bit.ly/2TtBDfr" TargetMode="Externa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" type="title">
  <p:cSld name="TITLE">
    <p:bg>
      <p:bgPr>
        <a:solidFill>
          <a:schemeClr val="lt1"/>
        </a:solidFill>
      </p:bgPr>
    </p:bg>
    <p:spTree>
      <p:nvGrpSpPr>
        <p:cNvPr id="6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oogle Shape;7;p2"/>
          <p:cNvPicPr preferRelativeResize="0"/>
          <p:nvPr/>
        </p:nvPicPr>
        <p:blipFill rotWithShape="1">
          <a:blip r:embed="rId2">
            <a:alphaModFix amt="20000"/>
          </a:blip>
          <a:srcRect b="0" l="7797" r="7803" t="0"/>
          <a:stretch/>
        </p:blipFill>
        <p:spPr>
          <a:xfrm rot="5400000">
            <a:off x="1995840" y="-2004840"/>
            <a:ext cx="5152320" cy="9153000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Google Shape;8;p2"/>
          <p:cNvSpPr txBox="1"/>
          <p:nvPr>
            <p:ph type="title"/>
          </p:nvPr>
        </p:nvSpPr>
        <p:spPr>
          <a:xfrm>
            <a:off x="713160" y="841680"/>
            <a:ext cx="6594840" cy="2847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9" name="Google Shape;9;p2"/>
          <p:cNvSpPr txBox="1"/>
          <p:nvPr>
            <p:ph idx="1"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AND_BODY" type="tx">
  <p:cSld name="TITLE_AND_BODY">
    <p:bg>
      <p:bgPr>
        <a:solidFill>
          <a:schemeClr val="accent2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oogle Shape;11;p3"/>
          <p:cNvPicPr preferRelativeResize="0"/>
          <p:nvPr/>
        </p:nvPicPr>
        <p:blipFill rotWithShape="1">
          <a:blip r:embed="rId2">
            <a:alphaModFix amt="20000"/>
          </a:blip>
          <a:srcRect b="0" l="7797" r="7803" t="0"/>
          <a:stretch/>
        </p:blipFill>
        <p:spPr>
          <a:xfrm rot="-5400000">
            <a:off x="1995480" y="-2004480"/>
            <a:ext cx="5152320" cy="9153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12;p3"/>
          <p:cNvSpPr txBox="1"/>
          <p:nvPr>
            <p:ph idx="1" type="body"/>
          </p:nvPr>
        </p:nvSpPr>
        <p:spPr>
          <a:xfrm>
            <a:off x="713160" y="1081080"/>
            <a:ext cx="7717320" cy="352692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3" name="Google Shape;13;p3"/>
          <p:cNvSpPr txBox="1"/>
          <p:nvPr>
            <p:ph type="title"/>
          </p:nvPr>
        </p:nvSpPr>
        <p:spPr>
          <a:xfrm>
            <a:off x="713160" y="539640"/>
            <a:ext cx="7717320" cy="477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_3" type="blank">
  <p:cSld name="BLANK">
    <p:bg>
      <p:bgPr>
        <a:solidFill>
          <a:schemeClr val="lt2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Google Shape;15;p4"/>
          <p:cNvPicPr preferRelativeResize="0"/>
          <p:nvPr/>
        </p:nvPicPr>
        <p:blipFill rotWithShape="1">
          <a:blip r:embed="rId2">
            <a:alphaModFix amt="20000"/>
          </a:blip>
          <a:srcRect b="0" l="0" r="15600" t="0"/>
          <a:stretch/>
        </p:blipFill>
        <p:spPr>
          <a:xfrm rot="-5400000">
            <a:off x="1995480" y="-2004480"/>
            <a:ext cx="5152320" cy="9153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4"/>
          <p:cNvSpPr txBox="1"/>
          <p:nvPr>
            <p:ph type="title"/>
          </p:nvPr>
        </p:nvSpPr>
        <p:spPr>
          <a:xfrm>
            <a:off x="713160" y="539640"/>
            <a:ext cx="7343640" cy="104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7" name="Google Shape;17;p4"/>
          <p:cNvSpPr/>
          <p:nvPr/>
        </p:nvSpPr>
        <p:spPr>
          <a:xfrm>
            <a:off x="713160" y="3587760"/>
            <a:ext cx="4763160" cy="682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2"/>
                </a:solidFill>
                <a:latin typeface="Trispace"/>
                <a:ea typeface="Trispace"/>
                <a:cs typeface="Trispace"/>
                <a:sym typeface="Trispace"/>
              </a:rPr>
              <a:t>CREDITS: This presentation template was created by </a:t>
            </a:r>
            <a:r>
              <a:rPr b="1" i="0" lang="en-US" sz="1200" u="sng" cap="none" strike="noStrike">
                <a:solidFill>
                  <a:schemeClr val="hlink"/>
                </a:solidFill>
                <a:latin typeface="Trispace"/>
                <a:ea typeface="Trispace"/>
                <a:cs typeface="Trispace"/>
                <a:sym typeface="Trispace"/>
                <a:hlinkClick r:id="rId3"/>
              </a:rPr>
              <a:t>Slidesgo</a:t>
            </a:r>
            <a:r>
              <a:rPr b="0" i="0" lang="en-US" sz="1200" u="none" cap="none" strike="noStrike">
                <a:solidFill>
                  <a:schemeClr val="dk2"/>
                </a:solidFill>
                <a:latin typeface="Trispace"/>
                <a:ea typeface="Trispace"/>
                <a:cs typeface="Trispace"/>
                <a:sym typeface="Trispace"/>
              </a:rPr>
              <a:t>, including icons, infographics &amp; images by </a:t>
            </a:r>
            <a:r>
              <a:rPr b="1" i="0" lang="en-US" sz="1200" u="sng" cap="none" strike="noStrike">
                <a:solidFill>
                  <a:schemeClr val="hlink"/>
                </a:solidFill>
                <a:latin typeface="Trispace"/>
                <a:ea typeface="Trispace"/>
                <a:cs typeface="Trispace"/>
                <a:sym typeface="Trispace"/>
                <a:hlinkClick r:id="rId4"/>
              </a:rPr>
              <a:t>Freepik</a:t>
            </a:r>
            <a:endParaRPr b="0" i="0" sz="1200" u="none" cap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gif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gif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comments" Target="../comments/comment1.xml"/><Relationship Id="rId4" Type="http://schemas.openxmlformats.org/officeDocument/2006/relationships/image" Target="../media/image8.gif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9.gif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gif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jpg"/><Relationship Id="rId4" Type="http://schemas.openxmlformats.org/officeDocument/2006/relationships/image" Target="../media/image4.jpg"/><Relationship Id="rId5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 txBox="1"/>
          <p:nvPr/>
        </p:nvSpPr>
        <p:spPr>
          <a:xfrm>
            <a:off x="7568650" y="126325"/>
            <a:ext cx="3000000" cy="35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0">
                <a:solidFill>
                  <a:schemeClr val="dk1"/>
                </a:solidFill>
                <a:latin typeface="Trispace"/>
                <a:ea typeface="Trispace"/>
                <a:cs typeface="Trispace"/>
                <a:sym typeface="Trispace"/>
              </a:rPr>
              <a:t>TEAM Aura. </a:t>
            </a:r>
            <a:endParaRPr sz="1120">
              <a:solidFill>
                <a:schemeClr val="dk1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23" name="Google Shape;23;p5"/>
          <p:cNvSpPr txBox="1"/>
          <p:nvPr/>
        </p:nvSpPr>
        <p:spPr>
          <a:xfrm>
            <a:off x="335075" y="126325"/>
            <a:ext cx="3000000" cy="124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0">
                <a:solidFill>
                  <a:schemeClr val="dk1"/>
                </a:solidFill>
                <a:latin typeface="Trispace"/>
                <a:ea typeface="Trispace"/>
                <a:cs typeface="Trispace"/>
                <a:sym typeface="Trispace"/>
              </a:rPr>
              <a:t>Michał</a:t>
            </a:r>
            <a:endParaRPr sz="1120">
              <a:solidFill>
                <a:schemeClr val="dk1"/>
              </a:solidFill>
              <a:latin typeface="Trispace"/>
              <a:ea typeface="Trispace"/>
              <a:cs typeface="Trispace"/>
              <a:sym typeface="Trispace"/>
            </a:endParaRPr>
          </a:p>
          <a:p>
            <a:pPr indent="0" lvl="0" marL="0" rtl="0" algn="l">
              <a:lnSpc>
                <a:spcPct val="13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0">
                <a:solidFill>
                  <a:schemeClr val="dk1"/>
                </a:solidFill>
                <a:latin typeface="Trispace"/>
                <a:ea typeface="Trispace"/>
                <a:cs typeface="Trispace"/>
                <a:sym typeface="Trispace"/>
              </a:rPr>
              <a:t>Piotr</a:t>
            </a:r>
            <a:endParaRPr sz="1120">
              <a:solidFill>
                <a:schemeClr val="dk1"/>
              </a:solidFill>
              <a:latin typeface="Trispace"/>
              <a:ea typeface="Trispace"/>
              <a:cs typeface="Trispace"/>
              <a:sym typeface="Trispace"/>
            </a:endParaRPr>
          </a:p>
          <a:p>
            <a:pPr indent="0" lvl="0" marL="0" rtl="0" algn="l">
              <a:lnSpc>
                <a:spcPct val="13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94">
                <a:solidFill>
                  <a:schemeClr val="dk1"/>
                </a:solidFill>
                <a:latin typeface="Trispace"/>
                <a:ea typeface="Trispace"/>
                <a:cs typeface="Trispace"/>
                <a:sym typeface="Trispace"/>
              </a:rPr>
              <a:t>Yevheniy</a:t>
            </a:r>
            <a:endParaRPr sz="1120">
              <a:solidFill>
                <a:schemeClr val="dk1"/>
              </a:solidFill>
              <a:latin typeface="Trispace"/>
              <a:ea typeface="Trispace"/>
              <a:cs typeface="Trispace"/>
              <a:sym typeface="Trispace"/>
            </a:endParaRPr>
          </a:p>
          <a:p>
            <a:pPr indent="0" lvl="0" marL="0" rtl="0" algn="l">
              <a:lnSpc>
                <a:spcPct val="13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0">
                <a:solidFill>
                  <a:schemeClr val="dk1"/>
                </a:solidFill>
                <a:latin typeface="Trispace"/>
                <a:ea typeface="Trispace"/>
                <a:cs typeface="Trispace"/>
                <a:sym typeface="Trispace"/>
              </a:rPr>
              <a:t>Anastasiia</a:t>
            </a:r>
            <a:endParaRPr sz="1120">
              <a:solidFill>
                <a:schemeClr val="dk1"/>
              </a:solidFill>
              <a:latin typeface="Trispace"/>
              <a:ea typeface="Trispace"/>
              <a:cs typeface="Trispace"/>
              <a:sym typeface="Trispace"/>
            </a:endParaRPr>
          </a:p>
          <a:p>
            <a:pPr indent="0" lvl="0" marL="0" rtl="0" algn="l">
              <a:lnSpc>
                <a:spcPct val="13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0">
                <a:solidFill>
                  <a:schemeClr val="dk1"/>
                </a:solidFill>
                <a:latin typeface="Trispace"/>
                <a:ea typeface="Trispace"/>
                <a:cs typeface="Trispace"/>
                <a:sym typeface="Trispace"/>
              </a:rPr>
              <a:t>Samotność?</a:t>
            </a:r>
            <a:endParaRPr sz="1120">
              <a:solidFill>
                <a:schemeClr val="dk1"/>
              </a:solidFill>
              <a:latin typeface="Trispace"/>
              <a:ea typeface="Trispace"/>
              <a:cs typeface="Trispace"/>
              <a:sym typeface="Trispace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6"/>
          <p:cNvSpPr/>
          <p:nvPr/>
        </p:nvSpPr>
        <p:spPr>
          <a:xfrm>
            <a:off x="1336650" y="393000"/>
            <a:ext cx="6530700" cy="310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000">
                <a:solidFill>
                  <a:srgbClr val="FFFFFF"/>
                </a:solidFill>
                <a:latin typeface="Dela Gothic One"/>
                <a:ea typeface="Dela Gothic One"/>
                <a:cs typeface="Dela Gothic One"/>
                <a:sym typeface="Dela Gothic One"/>
              </a:rPr>
              <a:t>Chcę wyjść.</a:t>
            </a:r>
            <a:br>
              <a:rPr lang="en-US" sz="5000">
                <a:solidFill>
                  <a:srgbClr val="FFFFFF"/>
                </a:solidFill>
                <a:latin typeface="Dela Gothic One"/>
                <a:ea typeface="Dela Gothic One"/>
                <a:cs typeface="Dela Gothic One"/>
                <a:sym typeface="Dela Gothic One"/>
              </a:rPr>
            </a:br>
            <a:br>
              <a:rPr lang="en-US" sz="3000">
                <a:solidFill>
                  <a:srgbClr val="FFFFFF"/>
                </a:solidFill>
                <a:latin typeface="Dela Gothic One"/>
                <a:ea typeface="Dela Gothic One"/>
                <a:cs typeface="Dela Gothic One"/>
                <a:sym typeface="Dela Gothic One"/>
              </a:rPr>
            </a:br>
            <a:r>
              <a:rPr lang="en-US" sz="4900">
                <a:solidFill>
                  <a:srgbClr val="FFFFFF"/>
                </a:solidFill>
                <a:latin typeface="Dela Gothic One"/>
                <a:ea typeface="Dela Gothic One"/>
                <a:cs typeface="Dela Gothic One"/>
                <a:sym typeface="Dela Gothic One"/>
              </a:rPr>
              <a:t>Nie wiem gdzie, ani czy wrócę bezpiecznie.</a:t>
            </a:r>
            <a:endParaRPr sz="4900">
              <a:solidFill>
                <a:srgbClr val="FFFFFF"/>
              </a:solidFill>
              <a:latin typeface="Dela Gothic One"/>
              <a:ea typeface="Dela Gothic One"/>
              <a:cs typeface="Dela Gothic One"/>
              <a:sym typeface="Dela Gothic One"/>
            </a:endParaRPr>
          </a:p>
        </p:txBody>
      </p:sp>
      <p:sp>
        <p:nvSpPr>
          <p:cNvPr id="29" name="Google Shape;29;p6"/>
          <p:cNvSpPr/>
          <p:nvPr/>
        </p:nvSpPr>
        <p:spPr>
          <a:xfrm>
            <a:off x="1336650" y="3529750"/>
            <a:ext cx="6470700" cy="90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3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20">
                <a:solidFill>
                  <a:srgbClr val="FFFFFF"/>
                </a:solidFill>
                <a:latin typeface="Trispace"/>
                <a:ea typeface="Trispace"/>
                <a:cs typeface="Trispace"/>
                <a:sym typeface="Trispace"/>
              </a:rPr>
              <a:t>57% seniorów chciałoby częściej wychodzić z domu</a:t>
            </a:r>
            <a:endParaRPr sz="1320">
              <a:solidFill>
                <a:srgbClr val="FFFFFF"/>
              </a:solidFill>
              <a:latin typeface="Trispace"/>
              <a:ea typeface="Trispace"/>
              <a:cs typeface="Trispace"/>
              <a:sym typeface="Trispace"/>
            </a:endParaRPr>
          </a:p>
          <a:p>
            <a:pPr indent="0" lvl="0" marL="0" marR="0" rtl="0" algn="ctr">
              <a:lnSpc>
                <a:spcPct val="13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20">
                <a:solidFill>
                  <a:srgbClr val="FFFFFF"/>
                </a:solidFill>
                <a:latin typeface="Trispace"/>
                <a:ea typeface="Trispace"/>
                <a:cs typeface="Trispace"/>
                <a:sym typeface="Trispace"/>
              </a:rPr>
              <a:t>30% nie wie o wydarzeniach organizowanych dla seniorów</a:t>
            </a:r>
            <a:endParaRPr sz="1320">
              <a:solidFill>
                <a:srgbClr val="FFFFFF"/>
              </a:solidFill>
              <a:latin typeface="Trispace"/>
              <a:ea typeface="Trispace"/>
              <a:cs typeface="Trispace"/>
              <a:sym typeface="Trispace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647A54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Google Shape;34;p7" title="ElevenLabs_video_seedance-2-5_usun background_2026-10-18T05_13_01.gif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51182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Google Shape;35;p7"/>
          <p:cNvSpPr/>
          <p:nvPr/>
        </p:nvSpPr>
        <p:spPr>
          <a:xfrm>
            <a:off x="723960" y="3838680"/>
            <a:ext cx="5162040" cy="304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7525" wrap="square" tIns="45700">
            <a:noAutofit/>
          </a:bodyPr>
          <a:lstStyle/>
          <a:p>
            <a:pPr indent="0" lvl="0" marL="0" marR="0" rtl="0" algn="l">
              <a:lnSpc>
                <a:spcPct val="13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0">
                <a:solidFill>
                  <a:srgbClr val="FFFFFF"/>
                </a:solidFill>
                <a:latin typeface="Trispace"/>
                <a:ea typeface="Trispace"/>
                <a:cs typeface="Trispace"/>
                <a:sym typeface="Trispace"/>
              </a:rPr>
              <a:t>Dla kogo? </a:t>
            </a:r>
            <a:endParaRPr b="0" i="0" sz="1120" u="none" cap="none" strike="noStrike">
              <a:solidFill>
                <a:srgbClr val="FFFFFF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36" name="Google Shape;36;p7"/>
          <p:cNvSpPr txBox="1"/>
          <p:nvPr/>
        </p:nvSpPr>
        <p:spPr>
          <a:xfrm>
            <a:off x="2629350" y="2556275"/>
            <a:ext cx="3000000" cy="62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20">
                <a:solidFill>
                  <a:schemeClr val="dk1"/>
                </a:solidFill>
                <a:latin typeface="Trispace"/>
                <a:ea typeface="Trispace"/>
                <a:cs typeface="Trispace"/>
                <a:sym typeface="Trispace"/>
              </a:rPr>
              <a:t>Wyzwanie 1: Warszawa 2076</a:t>
            </a:r>
            <a:endParaRPr sz="1320">
              <a:solidFill>
                <a:schemeClr val="dk1"/>
              </a:solidFill>
              <a:latin typeface="Trispace"/>
              <a:ea typeface="Trispace"/>
              <a:cs typeface="Trispace"/>
              <a:sym typeface="Trispace"/>
            </a:endParaRPr>
          </a:p>
          <a:p>
            <a:pPr indent="0" lvl="0" marL="0" rtl="0" algn="l">
              <a:lnSpc>
                <a:spcPct val="13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20">
              <a:solidFill>
                <a:schemeClr val="dk1"/>
              </a:solidFill>
              <a:latin typeface="Trispace"/>
              <a:ea typeface="Trispace"/>
              <a:cs typeface="Trispace"/>
              <a:sym typeface="Trispace"/>
            </a:endParaRPr>
          </a:p>
        </p:txBody>
      </p:sp>
      <p:sp>
        <p:nvSpPr>
          <p:cNvPr id="37" name="Google Shape;37;p7"/>
          <p:cNvSpPr/>
          <p:nvPr/>
        </p:nvSpPr>
        <p:spPr>
          <a:xfrm>
            <a:off x="265100" y="1871393"/>
            <a:ext cx="6591000" cy="1400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6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275">
                <a:solidFill>
                  <a:srgbClr val="FFFFFF"/>
                </a:solidFill>
                <a:latin typeface="Dela Gothic One"/>
                <a:ea typeface="Dela Gothic One"/>
                <a:cs typeface="Dela Gothic One"/>
                <a:sym typeface="Dela Gothic One"/>
              </a:rPr>
              <a:t>PROWADŹ mnie</a:t>
            </a:r>
            <a:endParaRPr b="0" i="0" sz="6275" u="none" cap="none" strike="noStrike">
              <a:solidFill>
                <a:srgbClr val="FFFFFF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38" name="Google Shape;38;p7"/>
          <p:cNvSpPr/>
          <p:nvPr/>
        </p:nvSpPr>
        <p:spPr>
          <a:xfrm>
            <a:off x="6309025" y="3838675"/>
            <a:ext cx="2637900" cy="90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20">
                <a:solidFill>
                  <a:srgbClr val="FFFFFF"/>
                </a:solidFill>
                <a:latin typeface="Trispace"/>
                <a:ea typeface="Trispace"/>
                <a:cs typeface="Trispace"/>
                <a:sym typeface="Trispace"/>
              </a:rPr>
              <a:t>Asystent AR prowadzący </a:t>
            </a:r>
            <a:endParaRPr sz="1320">
              <a:solidFill>
                <a:srgbClr val="FFFFFF"/>
              </a:solidFill>
              <a:latin typeface="Trispace"/>
              <a:ea typeface="Trispace"/>
              <a:cs typeface="Trispace"/>
              <a:sym typeface="Trispace"/>
            </a:endParaRPr>
          </a:p>
          <a:p>
            <a:pPr indent="0" lvl="0" marL="0" marR="0" rtl="0" algn="l">
              <a:lnSpc>
                <a:spcPct val="13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20">
                <a:solidFill>
                  <a:srgbClr val="FFFFFF"/>
                </a:solidFill>
                <a:latin typeface="Trispace"/>
                <a:ea typeface="Trispace"/>
                <a:cs typeface="Trispace"/>
                <a:sym typeface="Trispace"/>
              </a:rPr>
              <a:t>seniorów po mieście</a:t>
            </a:r>
            <a:endParaRPr sz="1320">
              <a:solidFill>
                <a:srgbClr val="FFFFFF"/>
              </a:solidFill>
              <a:latin typeface="Trispace"/>
              <a:ea typeface="Trispace"/>
              <a:cs typeface="Trispace"/>
              <a:sym typeface="Trispace"/>
            </a:endParaRPr>
          </a:p>
          <a:p>
            <a:pPr indent="0" lvl="0" marL="0" marR="0" rtl="0" algn="l">
              <a:lnSpc>
                <a:spcPct val="13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20">
              <a:solidFill>
                <a:srgbClr val="FFFFFF"/>
              </a:solidFill>
              <a:latin typeface="Trispace"/>
              <a:ea typeface="Trispace"/>
              <a:cs typeface="Trispace"/>
              <a:sym typeface="Trispace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" name="Google Shape;43;p8" title="ElevenLabs_video_seedance-2-5_zrob case uzytk_2026-10-18T07_10_32.gif"/>
          <p:cNvPicPr preferRelativeResize="0"/>
          <p:nvPr/>
        </p:nvPicPr>
        <p:blipFill>
          <a:blip r:embed="rId3">
            <a:alphaModFix amt="20000"/>
          </a:blip>
          <a:stretch>
            <a:fillRect/>
          </a:stretch>
        </p:blipFill>
        <p:spPr>
          <a:xfrm>
            <a:off x="0" y="0"/>
            <a:ext cx="9144000" cy="5139509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p8"/>
          <p:cNvSpPr/>
          <p:nvPr/>
        </p:nvSpPr>
        <p:spPr>
          <a:xfrm>
            <a:off x="0" y="-342525"/>
            <a:ext cx="9745800" cy="2609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>
                <a:solidFill>
                  <a:srgbClr val="FFFFFF"/>
                </a:solidFill>
                <a:latin typeface="Dela Gothic One"/>
                <a:ea typeface="Dela Gothic One"/>
                <a:cs typeface="Dela Gothic One"/>
                <a:sym typeface="Dela Gothic One"/>
              </a:rPr>
              <a:t>młode oczy </a:t>
            </a:r>
            <a:endParaRPr sz="6000">
              <a:solidFill>
                <a:srgbClr val="FFFFFF"/>
              </a:solidFill>
              <a:latin typeface="Dela Gothic One"/>
              <a:ea typeface="Dela Gothic One"/>
              <a:cs typeface="Dela Gothic One"/>
              <a:sym typeface="Dela Gothic One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>
                <a:solidFill>
                  <a:srgbClr val="FFFFFF"/>
                </a:solidFill>
                <a:latin typeface="Dela Gothic One"/>
                <a:ea typeface="Dela Gothic One"/>
                <a:cs typeface="Dela Gothic One"/>
                <a:sym typeface="Dela Gothic One"/>
              </a:rPr>
              <a:t>starych ludzi</a:t>
            </a:r>
            <a:br>
              <a:rPr lang="en-US" sz="6000">
                <a:solidFill>
                  <a:srgbClr val="FFFFFF"/>
                </a:solidFill>
                <a:latin typeface="Dela Gothic One"/>
                <a:ea typeface="Dela Gothic One"/>
                <a:cs typeface="Dela Gothic One"/>
                <a:sym typeface="Dela Gothic One"/>
              </a:rPr>
            </a:br>
            <a:r>
              <a:rPr lang="en-US" sz="6000">
                <a:solidFill>
                  <a:srgbClr val="FFFFFF"/>
                </a:solidFill>
                <a:latin typeface="Dela Gothic One"/>
                <a:ea typeface="Dela Gothic One"/>
                <a:cs typeface="Dela Gothic One"/>
                <a:sym typeface="Dela Gothic One"/>
              </a:rPr>
              <a:t>INNOWACYJNOŚĆ</a:t>
            </a:r>
            <a:endParaRPr b="0" i="0" sz="6000" u="none" cap="none" strike="noStrike">
              <a:solidFill>
                <a:srgbClr val="FFFFFF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45" name="Google Shape;45;p8"/>
          <p:cNvSpPr txBox="1"/>
          <p:nvPr/>
        </p:nvSpPr>
        <p:spPr>
          <a:xfrm>
            <a:off x="783275" y="2379450"/>
            <a:ext cx="8165400" cy="223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20">
                <a:solidFill>
                  <a:schemeClr val="dk1"/>
                </a:solidFill>
                <a:latin typeface="Trispace"/>
                <a:ea typeface="Trispace"/>
                <a:cs typeface="Trispace"/>
                <a:sym typeface="Trispace"/>
              </a:rPr>
              <a:t>AR na telefonie -&gt; integracja na okularach rozszerzonej rzeczywistości</a:t>
            </a:r>
            <a:endParaRPr sz="1320">
              <a:solidFill>
                <a:schemeClr val="dk1"/>
              </a:solidFill>
              <a:latin typeface="Trispace"/>
              <a:ea typeface="Trispace"/>
              <a:cs typeface="Trispace"/>
              <a:sym typeface="Trispace"/>
            </a:endParaRPr>
          </a:p>
          <a:p>
            <a:pPr indent="0" lvl="0" marL="0" rtl="0" algn="l">
              <a:lnSpc>
                <a:spcPct val="13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20">
              <a:solidFill>
                <a:schemeClr val="dk1"/>
              </a:solidFill>
              <a:latin typeface="Trispace"/>
              <a:ea typeface="Trispace"/>
              <a:cs typeface="Trispace"/>
              <a:sym typeface="Trispace"/>
            </a:endParaRPr>
          </a:p>
          <a:p>
            <a:pPr indent="0" lvl="0" marL="0" rtl="0" algn="l">
              <a:lnSpc>
                <a:spcPct val="13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20">
              <a:solidFill>
                <a:schemeClr val="dk1"/>
              </a:solidFill>
              <a:latin typeface="Trispace"/>
              <a:ea typeface="Trispace"/>
              <a:cs typeface="Trispace"/>
              <a:sym typeface="Trispace"/>
            </a:endParaRPr>
          </a:p>
          <a:p>
            <a:pPr indent="0" lvl="0" marL="0" rtl="0" algn="l">
              <a:lnSpc>
                <a:spcPct val="13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20">
                <a:solidFill>
                  <a:schemeClr val="dk1"/>
                </a:solidFill>
                <a:latin typeface="Trispace"/>
                <a:ea typeface="Trispace"/>
                <a:cs typeface="Trispace"/>
                <a:sym typeface="Trispace"/>
              </a:rPr>
              <a:t>Nie mam z kim wyjść</a:t>
            </a:r>
            <a:endParaRPr sz="1320">
              <a:solidFill>
                <a:schemeClr val="dk1"/>
              </a:solidFill>
              <a:latin typeface="Trispace"/>
              <a:ea typeface="Trispace"/>
              <a:cs typeface="Trispace"/>
              <a:sym typeface="Trispace"/>
            </a:endParaRPr>
          </a:p>
          <a:p>
            <a:pPr indent="0" lvl="0" marL="0" rtl="0" algn="l">
              <a:lnSpc>
                <a:spcPct val="13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20">
                <a:solidFill>
                  <a:schemeClr val="dk1"/>
                </a:solidFill>
                <a:latin typeface="Trispace"/>
                <a:ea typeface="Trispace"/>
                <a:cs typeface="Trispace"/>
                <a:sym typeface="Trispace"/>
              </a:rPr>
              <a:t>            +</a:t>
            </a:r>
            <a:endParaRPr sz="1320">
              <a:solidFill>
                <a:schemeClr val="dk1"/>
              </a:solidFill>
              <a:latin typeface="Trispace"/>
              <a:ea typeface="Trispace"/>
              <a:cs typeface="Trispace"/>
              <a:sym typeface="Trispace"/>
            </a:endParaRPr>
          </a:p>
          <a:p>
            <a:pPr indent="0" lvl="0" marL="0" rtl="0" algn="l">
              <a:lnSpc>
                <a:spcPct val="13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20">
                <a:solidFill>
                  <a:schemeClr val="dk1"/>
                </a:solidFill>
                <a:latin typeface="Trispace"/>
                <a:ea typeface="Trispace"/>
                <a:cs typeface="Trispace"/>
                <a:sym typeface="Trispace"/>
              </a:rPr>
              <a:t>Boję się, że nie dotrę</a:t>
            </a:r>
            <a:endParaRPr sz="1320">
              <a:solidFill>
                <a:schemeClr val="dk1"/>
              </a:solidFill>
              <a:latin typeface="Trispace"/>
              <a:ea typeface="Trispace"/>
              <a:cs typeface="Trispace"/>
              <a:sym typeface="Trispace"/>
            </a:endParaRPr>
          </a:p>
          <a:p>
            <a:pPr indent="0" lvl="0" marL="0" rtl="0" algn="l">
              <a:lnSpc>
                <a:spcPct val="13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20">
                <a:solidFill>
                  <a:schemeClr val="dk1"/>
                </a:solidFill>
                <a:latin typeface="Trispace"/>
                <a:ea typeface="Trispace"/>
                <a:cs typeface="Trispace"/>
                <a:sym typeface="Trispace"/>
              </a:rPr>
              <a:t>            ↓</a:t>
            </a:r>
            <a:endParaRPr sz="1320">
              <a:solidFill>
                <a:schemeClr val="dk1"/>
              </a:solidFill>
              <a:latin typeface="Trispace"/>
              <a:ea typeface="Trispace"/>
              <a:cs typeface="Trispace"/>
              <a:sym typeface="Trispace"/>
            </a:endParaRPr>
          </a:p>
          <a:p>
            <a:pPr indent="0" lvl="0" marL="0" rtl="0" algn="l">
              <a:lnSpc>
                <a:spcPct val="13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20">
                <a:solidFill>
                  <a:schemeClr val="dk1"/>
                </a:solidFill>
                <a:latin typeface="Trispace"/>
                <a:ea typeface="Trispace"/>
                <a:cs typeface="Trispace"/>
                <a:sym typeface="Trispace"/>
              </a:rPr>
              <a:t>wydarzenie + znajoma osoba + prowadzenie + powrót + SOS</a:t>
            </a:r>
            <a:endParaRPr sz="1320">
              <a:solidFill>
                <a:schemeClr val="dk1"/>
              </a:solidFill>
              <a:latin typeface="Trispace"/>
              <a:ea typeface="Trispace"/>
              <a:cs typeface="Trispace"/>
              <a:sym typeface="Trispace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9"/>
          <p:cNvSpPr/>
          <p:nvPr/>
        </p:nvSpPr>
        <p:spPr>
          <a:xfrm>
            <a:off x="3959475" y="595575"/>
            <a:ext cx="4661400" cy="20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8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540">
                <a:solidFill>
                  <a:srgbClr val="FFFFFF"/>
                </a:solidFill>
                <a:latin typeface="Dela Gothic One"/>
                <a:ea typeface="Dela Gothic One"/>
                <a:cs typeface="Dela Gothic One"/>
                <a:sym typeface="Dela Gothic One"/>
              </a:rPr>
              <a:t>Asystent AR prowadzący </a:t>
            </a:r>
            <a:endParaRPr sz="3540">
              <a:solidFill>
                <a:srgbClr val="FFFFFF"/>
              </a:solidFill>
              <a:latin typeface="Dela Gothic One"/>
              <a:ea typeface="Dela Gothic One"/>
              <a:cs typeface="Dela Gothic One"/>
              <a:sym typeface="Dela Gothic One"/>
            </a:endParaRPr>
          </a:p>
          <a:p>
            <a:pPr indent="0" lvl="0" marL="0" marR="0" rtl="0" algn="r">
              <a:lnSpc>
                <a:spcPct val="8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540">
                <a:solidFill>
                  <a:srgbClr val="FFFFFF"/>
                </a:solidFill>
                <a:latin typeface="Dela Gothic One"/>
                <a:ea typeface="Dela Gothic One"/>
                <a:cs typeface="Dela Gothic One"/>
                <a:sym typeface="Dela Gothic One"/>
              </a:rPr>
              <a:t>seniorów</a:t>
            </a:r>
            <a:endParaRPr sz="3540">
              <a:solidFill>
                <a:srgbClr val="FFFFFF"/>
              </a:solidFill>
              <a:latin typeface="Dela Gothic One"/>
              <a:ea typeface="Dela Gothic One"/>
              <a:cs typeface="Dela Gothic One"/>
              <a:sym typeface="Dela Gothic One"/>
            </a:endParaRPr>
          </a:p>
          <a:p>
            <a:pPr indent="0" lvl="0" marL="0" marR="0" rtl="0" algn="r">
              <a:lnSpc>
                <a:spcPct val="8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540">
                <a:solidFill>
                  <a:srgbClr val="FFFFFF"/>
                </a:solidFill>
                <a:latin typeface="Dela Gothic One"/>
                <a:ea typeface="Dela Gothic One"/>
                <a:cs typeface="Dela Gothic One"/>
                <a:sym typeface="Dela Gothic One"/>
              </a:rPr>
              <a:t>po mieście</a:t>
            </a:r>
            <a:endParaRPr sz="3540">
              <a:solidFill>
                <a:srgbClr val="FFFFFF"/>
              </a:solidFill>
              <a:latin typeface="Dela Gothic One"/>
              <a:ea typeface="Dela Gothic One"/>
              <a:cs typeface="Dela Gothic One"/>
              <a:sym typeface="Dela Gothic One"/>
            </a:endParaRPr>
          </a:p>
        </p:txBody>
      </p:sp>
      <p:sp>
        <p:nvSpPr>
          <p:cNvPr id="51" name="Google Shape;51;p9"/>
          <p:cNvSpPr/>
          <p:nvPr/>
        </p:nvSpPr>
        <p:spPr>
          <a:xfrm>
            <a:off x="3458785" y="4336605"/>
            <a:ext cx="5162100" cy="30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3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20">
                <a:solidFill>
                  <a:srgbClr val="FFFFFF"/>
                </a:solidFill>
                <a:latin typeface="Trispace"/>
                <a:ea typeface="Trispace"/>
                <a:cs typeface="Trispace"/>
                <a:sym typeface="Trispace"/>
              </a:rPr>
              <a:t>Nasze </a:t>
            </a:r>
            <a:r>
              <a:rPr lang="en-US" sz="920">
                <a:solidFill>
                  <a:srgbClr val="FFFFFF"/>
                </a:solidFill>
                <a:latin typeface="Trispace"/>
                <a:ea typeface="Trispace"/>
                <a:cs typeface="Trispace"/>
                <a:sym typeface="Trispace"/>
              </a:rPr>
              <a:t>rozwiązanie.</a:t>
            </a:r>
            <a:endParaRPr sz="920">
              <a:solidFill>
                <a:srgbClr val="FFFFFF"/>
              </a:solidFill>
              <a:latin typeface="Trispace"/>
              <a:ea typeface="Trispace"/>
              <a:cs typeface="Trispace"/>
              <a:sym typeface="Trispace"/>
            </a:endParaRPr>
          </a:p>
        </p:txBody>
      </p:sp>
      <p:pic>
        <p:nvPicPr>
          <p:cNvPr id="52" name="Google Shape;52;p9" title="demo_nawigacja_do_apteki_16s.gif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98550" y="152400"/>
            <a:ext cx="2318651" cy="4838700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9"/>
          <p:cNvSpPr/>
          <p:nvPr/>
        </p:nvSpPr>
        <p:spPr>
          <a:xfrm>
            <a:off x="6086000" y="2646050"/>
            <a:ext cx="2535000" cy="136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3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0">
                <a:solidFill>
                  <a:srgbClr val="FFFFFF"/>
                </a:solidFill>
                <a:latin typeface="Trispace"/>
                <a:ea typeface="Trispace"/>
                <a:cs typeface="Trispace"/>
                <a:sym typeface="Trispace"/>
              </a:rPr>
              <a:t>Nie mapa</a:t>
            </a:r>
            <a:endParaRPr sz="1420">
              <a:solidFill>
                <a:srgbClr val="FFFFFF"/>
              </a:solidFill>
              <a:latin typeface="Trispace"/>
              <a:ea typeface="Trispace"/>
              <a:cs typeface="Trispace"/>
              <a:sym typeface="Trispace"/>
            </a:endParaRPr>
          </a:p>
          <a:p>
            <a:pPr indent="0" lvl="0" marL="0" marR="0" rtl="0" algn="r">
              <a:lnSpc>
                <a:spcPct val="13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20">
              <a:solidFill>
                <a:srgbClr val="FFFFFF"/>
              </a:solidFill>
              <a:latin typeface="Trispace"/>
              <a:ea typeface="Trispace"/>
              <a:cs typeface="Trispace"/>
              <a:sym typeface="Trispace"/>
            </a:endParaRPr>
          </a:p>
          <a:p>
            <a:pPr indent="0" lvl="0" marL="0" marR="0" rtl="0" algn="r">
              <a:lnSpc>
                <a:spcPct val="13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0">
                <a:solidFill>
                  <a:srgbClr val="FFFFFF"/>
                </a:solidFill>
                <a:latin typeface="Trispace"/>
                <a:ea typeface="Trispace"/>
                <a:cs typeface="Trispace"/>
                <a:sym typeface="Trispace"/>
              </a:rPr>
              <a:t>Konkretny kierunek</a:t>
            </a:r>
            <a:endParaRPr sz="1420">
              <a:solidFill>
                <a:srgbClr val="FFFFFF"/>
              </a:solidFill>
              <a:latin typeface="Trispace"/>
              <a:ea typeface="Trispace"/>
              <a:cs typeface="Trispace"/>
              <a:sym typeface="Trispace"/>
            </a:endParaRPr>
          </a:p>
          <a:p>
            <a:pPr indent="0" lvl="0" marL="0" marR="0" rtl="0" algn="r">
              <a:lnSpc>
                <a:spcPct val="13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20">
              <a:solidFill>
                <a:srgbClr val="FFFFFF"/>
              </a:solidFill>
              <a:latin typeface="Trispace"/>
              <a:ea typeface="Trispace"/>
              <a:cs typeface="Trispace"/>
              <a:sym typeface="Trispace"/>
            </a:endParaRPr>
          </a:p>
          <a:p>
            <a:pPr indent="0" lvl="0" marL="0" marR="0" rtl="0" algn="r">
              <a:lnSpc>
                <a:spcPct val="13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0">
                <a:solidFill>
                  <a:srgbClr val="FFFFFF"/>
                </a:solidFill>
                <a:latin typeface="Trispace"/>
                <a:ea typeface="Trispace"/>
                <a:cs typeface="Trispace"/>
                <a:sym typeface="Trispace"/>
              </a:rPr>
              <a:t>Głosowe wsparcie </a:t>
            </a:r>
            <a:endParaRPr sz="1420">
              <a:solidFill>
                <a:srgbClr val="FFFFFF"/>
              </a:solidFill>
              <a:latin typeface="Trispace"/>
              <a:ea typeface="Trispace"/>
              <a:cs typeface="Trispace"/>
              <a:sym typeface="Trispace"/>
            </a:endParaRPr>
          </a:p>
        </p:txBody>
      </p:sp>
      <p:sp>
        <p:nvSpPr>
          <p:cNvPr id="54" name="Google Shape;54;p9"/>
          <p:cNvSpPr/>
          <p:nvPr/>
        </p:nvSpPr>
        <p:spPr>
          <a:xfrm>
            <a:off x="2986825" y="3130325"/>
            <a:ext cx="1677600" cy="1365600"/>
          </a:xfrm>
          <a:prstGeom prst="rect">
            <a:avLst/>
          </a:prstGeom>
          <a:noFill/>
          <a:ln cap="flat" cmpd="sng" w="76200">
            <a:solidFill>
              <a:srgbClr val="98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3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0">
                <a:solidFill>
                  <a:srgbClr val="FFFFFF"/>
                </a:solidFill>
                <a:latin typeface="Trispace"/>
                <a:ea typeface="Trispace"/>
                <a:cs typeface="Trispace"/>
                <a:sym typeface="Trispace"/>
              </a:rPr>
              <a:t>SOS</a:t>
            </a:r>
            <a:br>
              <a:rPr lang="en-US" sz="1420">
                <a:solidFill>
                  <a:srgbClr val="FFFFFF"/>
                </a:solidFill>
                <a:latin typeface="Trispace"/>
                <a:ea typeface="Trispace"/>
                <a:cs typeface="Trispace"/>
                <a:sym typeface="Trispace"/>
              </a:rPr>
            </a:br>
            <a:r>
              <a:rPr lang="en-US" sz="1420">
                <a:solidFill>
                  <a:srgbClr val="FFFFFF"/>
                </a:solidFill>
                <a:latin typeface="Trispace"/>
                <a:ea typeface="Trispace"/>
                <a:cs typeface="Trispace"/>
                <a:sym typeface="Trispace"/>
              </a:rPr>
              <a:t>powiadamia najbliższych </a:t>
            </a:r>
            <a:endParaRPr sz="1420">
              <a:solidFill>
                <a:srgbClr val="FFFFFF"/>
              </a:solidFill>
              <a:latin typeface="Trispace"/>
              <a:ea typeface="Trispace"/>
              <a:cs typeface="Trispace"/>
              <a:sym typeface="Trispace"/>
            </a:endParaRPr>
          </a:p>
          <a:p>
            <a:pPr indent="0" lvl="0" marL="0" marR="0" rtl="0" algn="r">
              <a:lnSpc>
                <a:spcPct val="13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0">
                <a:solidFill>
                  <a:srgbClr val="FFFFFF"/>
                </a:solidFill>
                <a:latin typeface="Trispace"/>
                <a:ea typeface="Trispace"/>
                <a:cs typeface="Trispace"/>
                <a:sym typeface="Trispace"/>
              </a:rPr>
              <a:t>o zagrożeniu</a:t>
            </a:r>
            <a:endParaRPr sz="1420">
              <a:solidFill>
                <a:srgbClr val="FFFFFF"/>
              </a:solidFill>
              <a:latin typeface="Trispace"/>
              <a:ea typeface="Trispace"/>
              <a:cs typeface="Trispace"/>
              <a:sym typeface="Trispace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Google Shape;59;p10" title="Untitled.gif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6525"/>
            <a:ext cx="9144000" cy="5126982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6D9EEB">
                <a:alpha val="4000"/>
              </a:srgbClr>
            </a:outerShdw>
          </a:effectLst>
        </p:spPr>
      </p:pic>
      <p:sp>
        <p:nvSpPr>
          <p:cNvPr id="60" name="Google Shape;60;p10"/>
          <p:cNvSpPr/>
          <p:nvPr/>
        </p:nvSpPr>
        <p:spPr>
          <a:xfrm>
            <a:off x="133925" y="2314275"/>
            <a:ext cx="8185800" cy="2192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6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700">
                <a:solidFill>
                  <a:srgbClr val="FFFFFF"/>
                </a:solidFill>
                <a:latin typeface="Dela Gothic One"/>
                <a:ea typeface="Dela Gothic One"/>
                <a:cs typeface="Dela Gothic One"/>
                <a:sym typeface="Dela Gothic One"/>
              </a:rPr>
              <a:t>Przyszłość</a:t>
            </a:r>
            <a:r>
              <a:rPr lang="en-US" sz="3700">
                <a:solidFill>
                  <a:srgbClr val="FFFFFF"/>
                </a:solidFill>
                <a:latin typeface="Dela Gothic One"/>
                <a:ea typeface="Dela Gothic One"/>
                <a:cs typeface="Dela Gothic One"/>
                <a:sym typeface="Dela Gothic One"/>
              </a:rPr>
              <a:t> widzimy </a:t>
            </a:r>
            <a:endParaRPr sz="3700">
              <a:solidFill>
                <a:srgbClr val="FFFFFF"/>
              </a:solidFill>
              <a:latin typeface="Dela Gothic One"/>
              <a:ea typeface="Dela Gothic One"/>
              <a:cs typeface="Dela Gothic One"/>
              <a:sym typeface="Dela Gothic One"/>
            </a:endParaRPr>
          </a:p>
          <a:p>
            <a:pPr indent="0" lvl="0" marL="0" marR="0" rtl="0" algn="l">
              <a:lnSpc>
                <a:spcPct val="6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700">
                <a:solidFill>
                  <a:srgbClr val="FFFFFF"/>
                </a:solidFill>
                <a:latin typeface="Dela Gothic One"/>
                <a:ea typeface="Dela Gothic One"/>
                <a:cs typeface="Dela Gothic One"/>
                <a:sym typeface="Dela Gothic One"/>
              </a:rPr>
              <a:t>w okularach </a:t>
            </a:r>
            <a:r>
              <a:rPr lang="en-US" sz="3700">
                <a:solidFill>
                  <a:srgbClr val="FFFFFF"/>
                </a:solidFill>
                <a:latin typeface="Dela Gothic One"/>
                <a:ea typeface="Dela Gothic One"/>
                <a:cs typeface="Dela Gothic One"/>
                <a:sym typeface="Dela Gothic One"/>
              </a:rPr>
              <a:t>rozszerzonej</a:t>
            </a:r>
            <a:r>
              <a:rPr lang="en-US" sz="3700">
                <a:solidFill>
                  <a:srgbClr val="FFFFFF"/>
                </a:solidFill>
                <a:latin typeface="Dela Gothic One"/>
                <a:ea typeface="Dela Gothic One"/>
                <a:cs typeface="Dela Gothic One"/>
                <a:sym typeface="Dela Gothic One"/>
              </a:rPr>
              <a:t> rzeczywistości</a:t>
            </a:r>
            <a:endParaRPr b="0" i="0" sz="3700" u="none" cap="none" strike="noStrike">
              <a:solidFill>
                <a:srgbClr val="FFFFFF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" name="Google Shape;65;p11" title="42 aura.gif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60400" y="152400"/>
            <a:ext cx="2721769" cy="4838701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11"/>
          <p:cNvSpPr/>
          <p:nvPr/>
        </p:nvSpPr>
        <p:spPr>
          <a:xfrm>
            <a:off x="0" y="-820375"/>
            <a:ext cx="8621700" cy="2308200"/>
          </a:xfrm>
          <a:prstGeom prst="rect">
            <a:avLst/>
          </a:prstGeom>
          <a:noFill/>
          <a:ln>
            <a:noFill/>
          </a:ln>
        </p:spPr>
        <p:txBody>
          <a:bodyPr anchorCtr="0" anchor="b" bIns="40425" lIns="80875" spcFirstLastPara="1" rIns="80875" wrap="square" tIns="40425">
            <a:noAutofit/>
          </a:bodyPr>
          <a:lstStyle/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308">
                <a:solidFill>
                  <a:srgbClr val="FFFFFF"/>
                </a:solidFill>
                <a:latin typeface="Dela Gothic One"/>
                <a:ea typeface="Dela Gothic One"/>
                <a:cs typeface="Dela Gothic One"/>
                <a:sym typeface="Dela Gothic One"/>
              </a:rPr>
              <a:t>Dane miejskie</a:t>
            </a:r>
            <a:endParaRPr b="0" i="0" sz="5308" u="none" cap="none" strike="noStrike">
              <a:solidFill>
                <a:srgbClr val="FFFFFF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67" name="Google Shape;67;p11"/>
          <p:cNvSpPr txBox="1"/>
          <p:nvPr/>
        </p:nvSpPr>
        <p:spPr>
          <a:xfrm>
            <a:off x="692933" y="1946801"/>
            <a:ext cx="6429000" cy="2470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875" lIns="80875" spcFirstLastPara="1" rIns="80875" wrap="square" tIns="8087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062"/>
              </a:spcBef>
              <a:spcAft>
                <a:spcPts val="0"/>
              </a:spcAft>
              <a:buNone/>
            </a:pPr>
            <a:r>
              <a:rPr lang="en-US" sz="1168">
                <a:solidFill>
                  <a:schemeClr val="dk1"/>
                </a:solidFill>
                <a:latin typeface="Trispace"/>
                <a:ea typeface="Trispace"/>
                <a:cs typeface="Trispace"/>
                <a:sym typeface="Trispace"/>
              </a:rPr>
              <a:t>Prowadź Mnie</a:t>
            </a:r>
            <a:r>
              <a:rPr lang="en-US" sz="1168">
                <a:solidFill>
                  <a:schemeClr val="dk1"/>
                </a:solidFill>
                <a:latin typeface="Trispace"/>
                <a:ea typeface="Trispace"/>
                <a:cs typeface="Trispace"/>
                <a:sym typeface="Trispace"/>
              </a:rPr>
              <a:t> korzysta z Kalendarza Wydarzeń Warszawy, </a:t>
            </a:r>
            <a:br>
              <a:rPr lang="en-US" sz="1168">
                <a:solidFill>
                  <a:schemeClr val="dk1"/>
                </a:solidFill>
                <a:latin typeface="Trispace"/>
                <a:ea typeface="Trispace"/>
                <a:cs typeface="Trispace"/>
                <a:sym typeface="Trispace"/>
              </a:rPr>
            </a:br>
            <a:r>
              <a:rPr lang="en-US" sz="1168">
                <a:solidFill>
                  <a:schemeClr val="dk1"/>
                </a:solidFill>
                <a:latin typeface="Trispace"/>
                <a:ea typeface="Trispace"/>
                <a:cs typeface="Trispace"/>
                <a:sym typeface="Trispace"/>
              </a:rPr>
              <a:t>pomaga wybrać cel </a:t>
            </a:r>
            <a:br>
              <a:rPr lang="en-US" sz="1168">
                <a:solidFill>
                  <a:schemeClr val="dk1"/>
                </a:solidFill>
                <a:latin typeface="Trispace"/>
                <a:ea typeface="Trispace"/>
                <a:cs typeface="Trispace"/>
                <a:sym typeface="Trispace"/>
              </a:rPr>
            </a:br>
            <a:r>
              <a:rPr lang="en-US" sz="1168">
                <a:solidFill>
                  <a:schemeClr val="dk1"/>
                </a:solidFill>
                <a:latin typeface="Trispace"/>
                <a:ea typeface="Trispace"/>
                <a:cs typeface="Trispace"/>
                <a:sym typeface="Trispace"/>
              </a:rPr>
              <a:t>i pokazuje piesze wskazówki.</a:t>
            </a:r>
            <a:endParaRPr sz="1168">
              <a:solidFill>
                <a:schemeClr val="dk1"/>
              </a:solidFill>
              <a:latin typeface="Trispace"/>
              <a:ea typeface="Trispace"/>
              <a:cs typeface="Trispace"/>
              <a:sym typeface="Trispace"/>
            </a:endParaRPr>
          </a:p>
          <a:p>
            <a:pPr indent="0" lvl="0" marL="0" rtl="0" algn="l">
              <a:lnSpc>
                <a:spcPct val="115000"/>
              </a:lnSpc>
              <a:spcBef>
                <a:spcPts val="1062"/>
              </a:spcBef>
              <a:spcAft>
                <a:spcPts val="0"/>
              </a:spcAft>
              <a:buNone/>
            </a:pPr>
            <a:r>
              <a:t/>
            </a:r>
            <a:endParaRPr sz="1168">
              <a:solidFill>
                <a:schemeClr val="dk1"/>
              </a:solidFill>
              <a:latin typeface="Trispace"/>
              <a:ea typeface="Trispace"/>
              <a:cs typeface="Trispace"/>
              <a:sym typeface="Trispace"/>
            </a:endParaRPr>
          </a:p>
          <a:p>
            <a:pPr indent="0" lvl="0" marL="0" rtl="0" algn="l">
              <a:lnSpc>
                <a:spcPct val="115000"/>
              </a:lnSpc>
              <a:spcBef>
                <a:spcPts val="1062"/>
              </a:spcBef>
              <a:spcAft>
                <a:spcPts val="0"/>
              </a:spcAft>
              <a:buNone/>
            </a:pPr>
            <a:r>
              <a:rPr lang="en-US" sz="1168">
                <a:solidFill>
                  <a:schemeClr val="dk1"/>
                </a:solidFill>
                <a:latin typeface="Trispace"/>
                <a:ea typeface="Trispace"/>
                <a:cs typeface="Trispace"/>
                <a:sym typeface="Trispace"/>
              </a:rPr>
              <a:t>ogólne ‘chcę gdzieś wyjść’ -&gt; konkretny pomysł na wyjście</a:t>
            </a:r>
            <a:endParaRPr sz="1168">
              <a:solidFill>
                <a:schemeClr val="dk1"/>
              </a:solidFill>
              <a:latin typeface="Trispace"/>
              <a:ea typeface="Trispace"/>
              <a:cs typeface="Trispace"/>
              <a:sym typeface="Trispace"/>
            </a:endParaRPr>
          </a:p>
          <a:p>
            <a:pPr indent="0" lvl="0" marL="0" rtl="0" algn="l">
              <a:lnSpc>
                <a:spcPct val="115000"/>
              </a:lnSpc>
              <a:spcBef>
                <a:spcPts val="1062"/>
              </a:spcBef>
              <a:spcAft>
                <a:spcPts val="0"/>
              </a:spcAft>
              <a:buNone/>
            </a:pPr>
            <a:r>
              <a:t/>
            </a:r>
            <a:endParaRPr sz="1168">
              <a:solidFill>
                <a:schemeClr val="dk1"/>
              </a:solidFill>
              <a:latin typeface="Trispace"/>
              <a:ea typeface="Trispace"/>
              <a:cs typeface="Trispace"/>
              <a:sym typeface="Trispace"/>
            </a:endParaRPr>
          </a:p>
          <a:p>
            <a:pPr indent="0" lvl="0" marL="0" rtl="0" algn="l">
              <a:lnSpc>
                <a:spcPct val="115000"/>
              </a:lnSpc>
              <a:spcBef>
                <a:spcPts val="1062"/>
              </a:spcBef>
              <a:spcAft>
                <a:spcPts val="0"/>
              </a:spcAft>
              <a:buNone/>
            </a:pPr>
            <a:r>
              <a:rPr lang="en-US" sz="1168">
                <a:solidFill>
                  <a:schemeClr val="dk1"/>
                </a:solidFill>
                <a:latin typeface="Trispace"/>
                <a:ea typeface="Trispace"/>
                <a:cs typeface="Trispace"/>
                <a:sym typeface="Trispace"/>
              </a:rPr>
              <a:t>wsparcie podczas spaceru</a:t>
            </a:r>
            <a:endParaRPr sz="1168">
              <a:solidFill>
                <a:schemeClr val="dk1"/>
              </a:solidFill>
              <a:latin typeface="Trispace"/>
              <a:ea typeface="Trispace"/>
              <a:cs typeface="Trispace"/>
              <a:sym typeface="Trispace"/>
            </a:endParaRPr>
          </a:p>
          <a:p>
            <a:pPr indent="0" lvl="0" marL="0" rtl="0" algn="l">
              <a:lnSpc>
                <a:spcPct val="130001"/>
              </a:lnSpc>
              <a:spcBef>
                <a:spcPts val="1062"/>
              </a:spcBef>
              <a:spcAft>
                <a:spcPts val="0"/>
              </a:spcAft>
              <a:buNone/>
            </a:pPr>
            <a:r>
              <a:t/>
            </a:r>
            <a:endParaRPr sz="1168">
              <a:solidFill>
                <a:schemeClr val="dk1"/>
              </a:solidFill>
              <a:latin typeface="Trispace"/>
              <a:ea typeface="Trispace"/>
              <a:cs typeface="Trispace"/>
              <a:sym typeface="Trispace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647A54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2"/>
          <p:cNvSpPr/>
          <p:nvPr/>
        </p:nvSpPr>
        <p:spPr>
          <a:xfrm>
            <a:off x="0" y="1076200"/>
            <a:ext cx="9745800" cy="561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6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>
                <a:solidFill>
                  <a:srgbClr val="FFFFFF"/>
                </a:solidFill>
                <a:latin typeface="Dela Gothic One"/>
                <a:ea typeface="Dela Gothic One"/>
                <a:cs typeface="Dela Gothic One"/>
                <a:sym typeface="Dela Gothic One"/>
              </a:rPr>
              <a:t>Potencjał wdrożeniowy</a:t>
            </a:r>
            <a:endParaRPr b="0" i="0" sz="6000" u="none" cap="none" strike="noStrike">
              <a:solidFill>
                <a:srgbClr val="FFFFFF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73" name="Google Shape;73;p12"/>
          <p:cNvSpPr/>
          <p:nvPr/>
        </p:nvSpPr>
        <p:spPr>
          <a:xfrm>
            <a:off x="714260" y="4266605"/>
            <a:ext cx="5162100" cy="30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0" u="none" cap="none" strike="noStrike">
                <a:solidFill>
                  <a:srgbClr val="FFFFFF"/>
                </a:solidFill>
                <a:latin typeface="Trispace"/>
                <a:ea typeface="Trispace"/>
                <a:cs typeface="Trispace"/>
                <a:sym typeface="Trispace"/>
              </a:rPr>
              <a:t>Pewniej w mieście, bliżej ludzi.</a:t>
            </a:r>
            <a:endParaRPr b="0" i="0" sz="1120" u="none" cap="none" strike="noStrike">
              <a:solidFill>
                <a:srgbClr val="FFFFFF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74" name="Google Shape;74;p12"/>
          <p:cNvSpPr/>
          <p:nvPr/>
        </p:nvSpPr>
        <p:spPr>
          <a:xfrm>
            <a:off x="366983" y="2419500"/>
            <a:ext cx="930600" cy="30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0">
                <a:solidFill>
                  <a:srgbClr val="FFFFFF"/>
                </a:solidFill>
                <a:latin typeface="Trispace"/>
                <a:ea typeface="Trispace"/>
                <a:cs typeface="Trispace"/>
                <a:sym typeface="Trispace"/>
              </a:rPr>
              <a:t>Prototyp</a:t>
            </a:r>
            <a:endParaRPr b="0" i="0" sz="1120" u="none" cap="none" strike="noStrike">
              <a:solidFill>
                <a:srgbClr val="FFFFFF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75" name="Google Shape;75;p12"/>
          <p:cNvSpPr/>
          <p:nvPr/>
        </p:nvSpPr>
        <p:spPr>
          <a:xfrm>
            <a:off x="1924700" y="2419500"/>
            <a:ext cx="1543200" cy="1112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3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Trispace"/>
                <a:ea typeface="Trispace"/>
                <a:cs typeface="Trispace"/>
                <a:sym typeface="Trispace"/>
              </a:rPr>
              <a:t>S</a:t>
            </a:r>
            <a:r>
              <a:rPr lang="en-US" sz="1100">
                <a:solidFill>
                  <a:schemeClr val="dk1"/>
                </a:solidFill>
                <a:latin typeface="Trispace"/>
                <a:ea typeface="Trispace"/>
                <a:cs typeface="Trispace"/>
                <a:sym typeface="Trispace"/>
              </a:rPr>
              <a:t>prawdzenie </a:t>
            </a:r>
            <a:br>
              <a:rPr lang="en-US" sz="1100">
                <a:solidFill>
                  <a:schemeClr val="dk1"/>
                </a:solidFill>
                <a:latin typeface="Trispace"/>
                <a:ea typeface="Trispace"/>
                <a:cs typeface="Trispace"/>
                <a:sym typeface="Trispace"/>
              </a:rPr>
            </a:br>
            <a:r>
              <a:rPr lang="en-US" sz="1100">
                <a:solidFill>
                  <a:schemeClr val="dk1"/>
                </a:solidFill>
                <a:latin typeface="Trispace"/>
                <a:ea typeface="Trispace"/>
                <a:cs typeface="Trispace"/>
                <a:sym typeface="Trispace"/>
              </a:rPr>
              <a:t>z seniorami, dostosowanie </a:t>
            </a:r>
            <a:endParaRPr sz="1100">
              <a:solidFill>
                <a:schemeClr val="dk1"/>
              </a:solidFill>
              <a:latin typeface="Trispace"/>
              <a:ea typeface="Trispace"/>
              <a:cs typeface="Trispace"/>
              <a:sym typeface="Trispace"/>
            </a:endParaRPr>
          </a:p>
          <a:p>
            <a:pPr indent="0" lvl="0" marL="0" rtl="0" algn="l">
              <a:lnSpc>
                <a:spcPct val="13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Trispace"/>
                <a:ea typeface="Trispace"/>
                <a:cs typeface="Trispace"/>
                <a:sym typeface="Trispace"/>
              </a:rPr>
              <a:t>na podstawie ich potrzeb</a:t>
            </a:r>
            <a:endParaRPr sz="1100">
              <a:solidFill>
                <a:schemeClr val="dk1"/>
              </a:solidFill>
              <a:latin typeface="Trispace"/>
              <a:ea typeface="Trispace"/>
              <a:cs typeface="Trispace"/>
              <a:sym typeface="Trispace"/>
            </a:endParaRPr>
          </a:p>
          <a:p>
            <a:pPr indent="0" lvl="0" marL="0" marR="0" rtl="0" algn="l">
              <a:lnSpc>
                <a:spcPct val="13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FFFFFF"/>
              </a:solidFill>
              <a:latin typeface="Trispace"/>
              <a:ea typeface="Trispace"/>
              <a:cs typeface="Trispace"/>
              <a:sym typeface="Trispace"/>
            </a:endParaRPr>
          </a:p>
        </p:txBody>
      </p:sp>
      <p:sp>
        <p:nvSpPr>
          <p:cNvPr id="76" name="Google Shape;76;p12"/>
          <p:cNvSpPr txBox="1"/>
          <p:nvPr/>
        </p:nvSpPr>
        <p:spPr>
          <a:xfrm>
            <a:off x="4399263" y="1981650"/>
            <a:ext cx="2097600" cy="118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20">
                <a:solidFill>
                  <a:schemeClr val="dk1"/>
                </a:solidFill>
                <a:latin typeface="Trispace"/>
                <a:ea typeface="Trispace"/>
                <a:cs typeface="Trispace"/>
                <a:sym typeface="Trispace"/>
              </a:rPr>
              <a:t>W</a:t>
            </a:r>
            <a:r>
              <a:rPr lang="en-US" sz="1320">
                <a:solidFill>
                  <a:schemeClr val="dk1"/>
                </a:solidFill>
                <a:latin typeface="Trispace"/>
                <a:ea typeface="Trispace"/>
                <a:cs typeface="Trispace"/>
                <a:sym typeface="Trispace"/>
              </a:rPr>
              <a:t>ykrywanie </a:t>
            </a:r>
            <a:endParaRPr sz="1320">
              <a:solidFill>
                <a:schemeClr val="dk1"/>
              </a:solidFill>
              <a:latin typeface="Trispace"/>
              <a:ea typeface="Trispace"/>
              <a:cs typeface="Trispace"/>
              <a:sym typeface="Trispace"/>
            </a:endParaRPr>
          </a:p>
          <a:p>
            <a:pPr indent="0" lvl="0" marL="0" rtl="0" algn="l">
              <a:lnSpc>
                <a:spcPct val="13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20">
                <a:solidFill>
                  <a:schemeClr val="dk1"/>
                </a:solidFill>
                <a:latin typeface="Trispace"/>
                <a:ea typeface="Trispace"/>
                <a:cs typeface="Trispace"/>
                <a:sym typeface="Trispace"/>
              </a:rPr>
              <a:t>upadku </a:t>
            </a:r>
            <a:endParaRPr sz="1320">
              <a:solidFill>
                <a:schemeClr val="dk1"/>
              </a:solidFill>
              <a:latin typeface="Trispace"/>
              <a:ea typeface="Trispace"/>
              <a:cs typeface="Trispace"/>
              <a:sym typeface="Trispace"/>
            </a:endParaRPr>
          </a:p>
          <a:p>
            <a:pPr indent="0" lvl="0" marL="0" rtl="0" algn="l">
              <a:lnSpc>
                <a:spcPct val="13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20">
                <a:solidFill>
                  <a:schemeClr val="dk1"/>
                </a:solidFill>
                <a:latin typeface="Trispace"/>
                <a:ea typeface="Trispace"/>
                <a:cs typeface="Trispace"/>
                <a:sym typeface="Trispace"/>
              </a:rPr>
              <a:t>i integracja </a:t>
            </a:r>
            <a:endParaRPr sz="1320">
              <a:solidFill>
                <a:schemeClr val="dk1"/>
              </a:solidFill>
              <a:latin typeface="Trispace"/>
              <a:ea typeface="Trispace"/>
              <a:cs typeface="Trispace"/>
              <a:sym typeface="Trispace"/>
            </a:endParaRPr>
          </a:p>
          <a:p>
            <a:pPr indent="0" lvl="0" marL="0" rtl="0" algn="l">
              <a:lnSpc>
                <a:spcPct val="13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20">
                <a:solidFill>
                  <a:schemeClr val="dk1"/>
                </a:solidFill>
                <a:latin typeface="Trispace"/>
                <a:ea typeface="Trispace"/>
                <a:cs typeface="Trispace"/>
                <a:sym typeface="Trispace"/>
              </a:rPr>
              <a:t>z zegarkiem</a:t>
            </a:r>
            <a:endParaRPr/>
          </a:p>
        </p:txBody>
      </p:sp>
      <p:sp>
        <p:nvSpPr>
          <p:cNvPr id="77" name="Google Shape;77;p12"/>
          <p:cNvSpPr/>
          <p:nvPr/>
        </p:nvSpPr>
        <p:spPr>
          <a:xfrm>
            <a:off x="714250" y="2995311"/>
            <a:ext cx="9467632" cy="990005"/>
          </a:xfrm>
          <a:custGeom>
            <a:rect b="b" l="l" r="r" t="t"/>
            <a:pathLst>
              <a:path extrusionOk="0" h="33754" w="383499">
                <a:moveTo>
                  <a:pt x="0" y="0"/>
                </a:moveTo>
                <a:cubicBezTo>
                  <a:pt x="10930" y="5309"/>
                  <a:pt x="36747" y="29980"/>
                  <a:pt x="65582" y="31854"/>
                </a:cubicBezTo>
                <a:cubicBezTo>
                  <a:pt x="94417" y="33728"/>
                  <a:pt x="136474" y="10931"/>
                  <a:pt x="173012" y="11243"/>
                </a:cubicBezTo>
                <a:cubicBezTo>
                  <a:pt x="209551" y="11555"/>
                  <a:pt x="249732" y="33936"/>
                  <a:pt x="284813" y="33728"/>
                </a:cubicBezTo>
                <a:cubicBezTo>
                  <a:pt x="319894" y="33520"/>
                  <a:pt x="367051" y="13949"/>
                  <a:pt x="383499" y="9993"/>
                </a:cubicBezTo>
              </a:path>
            </a:pathLst>
          </a:cu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78" name="Google Shape;78;p12"/>
          <p:cNvSpPr txBox="1"/>
          <p:nvPr/>
        </p:nvSpPr>
        <p:spPr>
          <a:xfrm>
            <a:off x="6411575" y="2177825"/>
            <a:ext cx="3000000" cy="144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3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20">
                <a:solidFill>
                  <a:schemeClr val="dk1"/>
                </a:solidFill>
                <a:latin typeface="Trispace"/>
                <a:ea typeface="Trispace"/>
                <a:cs typeface="Trispace"/>
                <a:sym typeface="Trispace"/>
              </a:rPr>
              <a:t>Adaptacja </a:t>
            </a:r>
            <a:endParaRPr sz="1320">
              <a:solidFill>
                <a:schemeClr val="dk1"/>
              </a:solidFill>
              <a:latin typeface="Trispace"/>
              <a:ea typeface="Trispace"/>
              <a:cs typeface="Trispace"/>
              <a:sym typeface="Trispace"/>
            </a:endParaRPr>
          </a:p>
          <a:p>
            <a:pPr indent="0" lvl="0" marL="0" rtl="0" algn="ctr">
              <a:lnSpc>
                <a:spcPct val="13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20">
                <a:solidFill>
                  <a:schemeClr val="dk1"/>
                </a:solidFill>
                <a:latin typeface="Trispace"/>
                <a:ea typeface="Trispace"/>
                <a:cs typeface="Trispace"/>
                <a:sym typeface="Trispace"/>
              </a:rPr>
              <a:t>rozwiązania</a:t>
            </a:r>
            <a:endParaRPr sz="1320">
              <a:solidFill>
                <a:schemeClr val="dk1"/>
              </a:solidFill>
              <a:latin typeface="Trispace"/>
              <a:ea typeface="Trispace"/>
              <a:cs typeface="Trispace"/>
              <a:sym typeface="Trispace"/>
            </a:endParaRPr>
          </a:p>
          <a:p>
            <a:pPr indent="0" lvl="0" marL="0" rtl="0" algn="ctr">
              <a:lnSpc>
                <a:spcPct val="13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20">
                <a:solidFill>
                  <a:schemeClr val="dk1"/>
                </a:solidFill>
                <a:latin typeface="Trispace"/>
                <a:ea typeface="Trispace"/>
                <a:cs typeface="Trispace"/>
                <a:sym typeface="Trispace"/>
              </a:rPr>
              <a:t>dla okularów  </a:t>
            </a:r>
            <a:endParaRPr sz="1320">
              <a:solidFill>
                <a:schemeClr val="dk1"/>
              </a:solidFill>
              <a:latin typeface="Trispace"/>
              <a:ea typeface="Trispace"/>
              <a:cs typeface="Trispace"/>
              <a:sym typeface="Trispace"/>
            </a:endParaRPr>
          </a:p>
          <a:p>
            <a:pPr indent="0" lvl="0" marL="0" rtl="0" algn="ctr">
              <a:lnSpc>
                <a:spcPct val="13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20">
                <a:solidFill>
                  <a:schemeClr val="dk1"/>
                </a:solidFill>
                <a:latin typeface="Trispace"/>
                <a:ea typeface="Trispace"/>
                <a:cs typeface="Trispace"/>
                <a:sym typeface="Trispace"/>
              </a:rPr>
              <a:t>rozszerzonej rzeczywistości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647A54"/>
        </a:solid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3"/>
          <p:cNvSpPr/>
          <p:nvPr/>
        </p:nvSpPr>
        <p:spPr>
          <a:xfrm>
            <a:off x="472625" y="3570384"/>
            <a:ext cx="1790400" cy="7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35700" lIns="71450" spcFirstLastPara="1" rIns="71450" wrap="square" tIns="35700">
            <a:noAutofit/>
          </a:bodyPr>
          <a:lstStyle/>
          <a:p>
            <a:pPr indent="0" lvl="0" marL="0" marR="0" rtl="0" algn="ctr">
              <a:lnSpc>
                <a:spcPct val="13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94">
                <a:solidFill>
                  <a:srgbClr val="FFFFFF"/>
                </a:solidFill>
                <a:latin typeface="Trispace"/>
                <a:ea typeface="Trispace"/>
                <a:cs typeface="Trispace"/>
                <a:sym typeface="Trispace"/>
              </a:rPr>
              <a:t>Anastasiia Klochko</a:t>
            </a:r>
            <a:endParaRPr sz="1094">
              <a:solidFill>
                <a:srgbClr val="FFFFFF"/>
              </a:solidFill>
              <a:latin typeface="Trispace"/>
              <a:ea typeface="Trispace"/>
              <a:cs typeface="Trispace"/>
              <a:sym typeface="Trispace"/>
            </a:endParaRPr>
          </a:p>
          <a:p>
            <a:pPr indent="0" lvl="0" marL="0" marR="0" rtl="0" algn="ctr">
              <a:lnSpc>
                <a:spcPct val="13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94">
                <a:solidFill>
                  <a:srgbClr val="FFFFFF"/>
                </a:solidFill>
                <a:latin typeface="Trispace"/>
                <a:ea typeface="Trispace"/>
                <a:cs typeface="Trispace"/>
                <a:sym typeface="Trispace"/>
              </a:rPr>
              <a:t>Achiever. Engineer</a:t>
            </a:r>
            <a:endParaRPr sz="1094">
              <a:solidFill>
                <a:srgbClr val="FFFFFF"/>
              </a:solidFill>
              <a:latin typeface="Trispace"/>
              <a:ea typeface="Trispace"/>
              <a:cs typeface="Trispace"/>
              <a:sym typeface="Trispace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94">
                <a:solidFill>
                  <a:schemeClr val="dk1"/>
                </a:solidFill>
                <a:latin typeface="Trispace"/>
                <a:ea typeface="Trispace"/>
                <a:cs typeface="Trispace"/>
                <a:sym typeface="Trispace"/>
              </a:rPr>
              <a:t>Warsaw 42 student</a:t>
            </a:r>
            <a:endParaRPr sz="1094">
              <a:solidFill>
                <a:schemeClr val="dk1"/>
              </a:solidFill>
              <a:latin typeface="Trispace"/>
              <a:ea typeface="Trispace"/>
              <a:cs typeface="Trispace"/>
              <a:sym typeface="Trispace"/>
            </a:endParaRPr>
          </a:p>
          <a:p>
            <a:pPr indent="0" lvl="0" marL="0" marR="0" rtl="0" algn="ctr">
              <a:lnSpc>
                <a:spcPct val="13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94">
              <a:solidFill>
                <a:srgbClr val="FFFFFF"/>
              </a:solidFill>
              <a:latin typeface="Trispace"/>
              <a:ea typeface="Trispace"/>
              <a:cs typeface="Trispace"/>
              <a:sym typeface="Trispace"/>
            </a:endParaRPr>
          </a:p>
        </p:txBody>
      </p:sp>
      <p:sp>
        <p:nvSpPr>
          <p:cNvPr id="84" name="Google Shape;84;p13"/>
          <p:cNvSpPr/>
          <p:nvPr/>
        </p:nvSpPr>
        <p:spPr>
          <a:xfrm>
            <a:off x="2520676" y="3570384"/>
            <a:ext cx="1992000" cy="494100"/>
          </a:xfrm>
          <a:prstGeom prst="rect">
            <a:avLst/>
          </a:prstGeom>
          <a:noFill/>
          <a:ln>
            <a:noFill/>
          </a:ln>
        </p:spPr>
        <p:txBody>
          <a:bodyPr anchorCtr="0" anchor="t" bIns="35700" lIns="71450" spcFirstLastPara="1" rIns="71450" wrap="square" tIns="35700">
            <a:noAutofit/>
          </a:bodyPr>
          <a:lstStyle/>
          <a:p>
            <a:pPr indent="0" lvl="0" marL="0" marR="0" rtl="0" algn="ctr">
              <a:lnSpc>
                <a:spcPct val="13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94">
                <a:solidFill>
                  <a:srgbClr val="FFFFFF"/>
                </a:solidFill>
                <a:latin typeface="Trispace"/>
                <a:ea typeface="Trispace"/>
                <a:cs typeface="Trispace"/>
                <a:sym typeface="Trispace"/>
              </a:rPr>
              <a:t>Yevheniy Bespalov</a:t>
            </a:r>
            <a:endParaRPr sz="1094">
              <a:solidFill>
                <a:srgbClr val="FFFFFF"/>
              </a:solidFill>
              <a:latin typeface="Trispace"/>
              <a:ea typeface="Trispace"/>
              <a:cs typeface="Trispace"/>
              <a:sym typeface="Trispace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94">
                <a:solidFill>
                  <a:srgbClr val="FFFFFF"/>
                </a:solidFill>
                <a:latin typeface="Trispace"/>
                <a:ea typeface="Trispace"/>
                <a:cs typeface="Trispace"/>
                <a:sym typeface="Trispace"/>
              </a:rPr>
              <a:t>Java/.NET developer </a:t>
            </a:r>
            <a:endParaRPr sz="1094">
              <a:solidFill>
                <a:srgbClr val="FFFFFF"/>
              </a:solidFill>
              <a:latin typeface="Trispace"/>
              <a:ea typeface="Trispace"/>
              <a:cs typeface="Trispace"/>
              <a:sym typeface="Trispace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94">
                <a:solidFill>
                  <a:srgbClr val="FFFFFF"/>
                </a:solidFill>
                <a:latin typeface="Trispace"/>
                <a:ea typeface="Trispace"/>
                <a:cs typeface="Trispace"/>
                <a:sym typeface="Trispace"/>
              </a:rPr>
              <a:t>Warsaw 42 student</a:t>
            </a:r>
            <a:endParaRPr sz="1094">
              <a:solidFill>
                <a:srgbClr val="FFFFFF"/>
              </a:solidFill>
              <a:latin typeface="Trispace"/>
              <a:ea typeface="Trispace"/>
              <a:cs typeface="Trispace"/>
              <a:sym typeface="Trispace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94">
              <a:solidFill>
                <a:srgbClr val="FFFFFF"/>
              </a:solidFill>
              <a:latin typeface="Trispace"/>
              <a:ea typeface="Trispace"/>
              <a:cs typeface="Trispace"/>
              <a:sym typeface="Trispace"/>
            </a:endParaRPr>
          </a:p>
        </p:txBody>
      </p:sp>
      <p:sp>
        <p:nvSpPr>
          <p:cNvPr id="85" name="Google Shape;85;p13"/>
          <p:cNvSpPr/>
          <p:nvPr/>
        </p:nvSpPr>
        <p:spPr>
          <a:xfrm>
            <a:off x="4670661" y="3570374"/>
            <a:ext cx="1650000" cy="494100"/>
          </a:xfrm>
          <a:prstGeom prst="rect">
            <a:avLst/>
          </a:prstGeom>
          <a:noFill/>
          <a:ln>
            <a:noFill/>
          </a:ln>
        </p:spPr>
        <p:txBody>
          <a:bodyPr anchorCtr="0" anchor="t" bIns="35700" lIns="71450" spcFirstLastPara="1" rIns="71450" wrap="square" tIns="35700">
            <a:noAutofit/>
          </a:bodyPr>
          <a:lstStyle/>
          <a:p>
            <a:pPr indent="0" lvl="0" marL="0" marR="0" rtl="0" algn="ctr">
              <a:lnSpc>
                <a:spcPct val="13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94">
                <a:solidFill>
                  <a:srgbClr val="FFFFFF"/>
                </a:solidFill>
                <a:latin typeface="Trispace"/>
                <a:ea typeface="Trispace"/>
                <a:cs typeface="Trispace"/>
                <a:sym typeface="Trispace"/>
              </a:rPr>
              <a:t>Michał Wilk</a:t>
            </a:r>
            <a:br>
              <a:rPr lang="en-US" sz="1094">
                <a:solidFill>
                  <a:srgbClr val="FFFFFF"/>
                </a:solidFill>
                <a:latin typeface="Trispace"/>
                <a:ea typeface="Trispace"/>
                <a:cs typeface="Trispace"/>
                <a:sym typeface="Trispace"/>
              </a:rPr>
            </a:br>
            <a:r>
              <a:rPr lang="en-US" sz="1094">
                <a:solidFill>
                  <a:srgbClr val="FFFFFF"/>
                </a:solidFill>
                <a:latin typeface="Trispace"/>
                <a:ea typeface="Trispace"/>
                <a:cs typeface="Trispace"/>
                <a:sym typeface="Trispace"/>
              </a:rPr>
              <a:t>Python Developer</a:t>
            </a:r>
            <a:endParaRPr sz="1094">
              <a:solidFill>
                <a:srgbClr val="FFFFFF"/>
              </a:solidFill>
              <a:latin typeface="Trispace"/>
              <a:ea typeface="Trispace"/>
              <a:cs typeface="Trispace"/>
              <a:sym typeface="Trispace"/>
            </a:endParaRPr>
          </a:p>
          <a:p>
            <a:pPr indent="0" lvl="0" marL="0" marR="0" rtl="0" algn="ctr">
              <a:lnSpc>
                <a:spcPct val="13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94">
              <a:solidFill>
                <a:srgbClr val="FFFFFF"/>
              </a:solidFill>
              <a:latin typeface="Trispace"/>
              <a:ea typeface="Trispace"/>
              <a:cs typeface="Trispace"/>
              <a:sym typeface="Trispace"/>
            </a:endParaRPr>
          </a:p>
          <a:p>
            <a:pPr indent="0" lvl="0" marL="0" marR="0" rtl="0" algn="ctr">
              <a:lnSpc>
                <a:spcPct val="13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94">
              <a:solidFill>
                <a:srgbClr val="FFFFFF"/>
              </a:solidFill>
              <a:latin typeface="Trispace"/>
              <a:ea typeface="Trispace"/>
              <a:cs typeface="Trispace"/>
              <a:sym typeface="Trispace"/>
            </a:endParaRPr>
          </a:p>
        </p:txBody>
      </p:sp>
      <p:pic>
        <p:nvPicPr>
          <p:cNvPr id="86" name="Google Shape;86;p13" title="IMG_2113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3622" y="1634025"/>
            <a:ext cx="1707742" cy="1707742"/>
          </a:xfrm>
          <a:prstGeom prst="rect">
            <a:avLst/>
          </a:prstGeom>
          <a:noFill/>
          <a:ln>
            <a:noFill/>
          </a:ln>
        </p:spPr>
      </p:pic>
      <p:pic>
        <p:nvPicPr>
          <p:cNvPr id="87" name="Google Shape;87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627708" y="1634025"/>
            <a:ext cx="1707742" cy="1707742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3"/>
          <p:cNvSpPr txBox="1"/>
          <p:nvPr/>
        </p:nvSpPr>
        <p:spPr>
          <a:xfrm>
            <a:off x="0" y="258050"/>
            <a:ext cx="9144000" cy="76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6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275">
                <a:solidFill>
                  <a:schemeClr val="dk1"/>
                </a:solidFill>
                <a:latin typeface="Dela Gothic One"/>
                <a:ea typeface="Dela Gothic One"/>
                <a:cs typeface="Dela Gothic One"/>
                <a:sym typeface="Dela Gothic One"/>
              </a:rPr>
              <a:t>DZIĘKUJEMY!</a:t>
            </a:r>
            <a:endParaRPr sz="6275">
              <a:solidFill>
                <a:schemeClr val="dk1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pic>
        <p:nvPicPr>
          <p:cNvPr id="89" name="Google Shape;89;p1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641793" y="1634025"/>
            <a:ext cx="1707742" cy="1707742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3"/>
          <p:cNvSpPr/>
          <p:nvPr/>
        </p:nvSpPr>
        <p:spPr>
          <a:xfrm>
            <a:off x="6728050" y="3472425"/>
            <a:ext cx="1650000" cy="1179000"/>
          </a:xfrm>
          <a:prstGeom prst="rect">
            <a:avLst/>
          </a:prstGeom>
          <a:noFill/>
          <a:ln>
            <a:noFill/>
          </a:ln>
        </p:spPr>
        <p:txBody>
          <a:bodyPr anchorCtr="0" anchor="t" bIns="35700" lIns="71450" spcFirstLastPara="1" rIns="71450" wrap="square" tIns="35700">
            <a:noAutofit/>
          </a:bodyPr>
          <a:lstStyle/>
          <a:p>
            <a:pPr indent="0" lvl="0" marL="0" marR="0" rtl="0" algn="ctr">
              <a:lnSpc>
                <a:spcPct val="13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94">
                <a:solidFill>
                  <a:srgbClr val="FFFFFF"/>
                </a:solidFill>
                <a:latin typeface="Trispace"/>
                <a:ea typeface="Trispace"/>
                <a:cs typeface="Trispace"/>
                <a:sym typeface="Trispace"/>
              </a:rPr>
              <a:t>Piotr Pasztuszyński</a:t>
            </a:r>
            <a:endParaRPr sz="1094">
              <a:solidFill>
                <a:srgbClr val="FFFFFF"/>
              </a:solidFill>
              <a:latin typeface="Trispace"/>
              <a:ea typeface="Trispace"/>
              <a:cs typeface="Trispace"/>
              <a:sym typeface="Trispace"/>
            </a:endParaRPr>
          </a:p>
          <a:p>
            <a:pPr indent="0" lvl="0" marL="0" marR="0" rtl="0" algn="ctr">
              <a:lnSpc>
                <a:spcPct val="13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94">
                <a:solidFill>
                  <a:srgbClr val="FFFFFF"/>
                </a:solidFill>
                <a:latin typeface="Trispace"/>
                <a:ea typeface="Trispace"/>
                <a:cs typeface="Trispace"/>
                <a:sym typeface="Trispace"/>
              </a:rPr>
              <a:t>Doświadczony </a:t>
            </a:r>
            <a:r>
              <a:rPr lang="en-US" sz="1094">
                <a:solidFill>
                  <a:srgbClr val="FFFFFF"/>
                </a:solidFill>
                <a:latin typeface="Trispace"/>
                <a:ea typeface="Trispace"/>
                <a:cs typeface="Trispace"/>
                <a:sym typeface="Trispace"/>
              </a:rPr>
              <a:t>handlarz</a:t>
            </a:r>
            <a:endParaRPr sz="1094">
              <a:solidFill>
                <a:srgbClr val="FFFFFF"/>
              </a:solidFill>
              <a:latin typeface="Trispace"/>
              <a:ea typeface="Trispace"/>
              <a:cs typeface="Trispace"/>
              <a:sym typeface="Trispace"/>
            </a:endParaRPr>
          </a:p>
          <a:p>
            <a:pPr indent="0" lvl="0" marL="0" marR="0" rtl="0" algn="ctr">
              <a:lnSpc>
                <a:spcPct val="13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94">
                <a:solidFill>
                  <a:srgbClr val="FFFFFF"/>
                </a:solidFill>
                <a:latin typeface="Trispace"/>
                <a:ea typeface="Trispace"/>
                <a:cs typeface="Trispace"/>
                <a:sym typeface="Trispace"/>
              </a:rPr>
              <a:t>odważny człowiek</a:t>
            </a:r>
            <a:endParaRPr sz="1094">
              <a:solidFill>
                <a:srgbClr val="FFFFFF"/>
              </a:solidFill>
              <a:latin typeface="Trispace"/>
              <a:ea typeface="Trispace"/>
              <a:cs typeface="Trispace"/>
              <a:sym typeface="Trispace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Marketing Plan for Policies and Procedures by Slidesgo">
  <a:themeElements>
    <a:clrScheme name="Simple Light">
      <a:dk1>
        <a:srgbClr val="FFFFFF"/>
      </a:dk1>
      <a:lt1>
        <a:srgbClr val="647A54"/>
      </a:lt1>
      <a:dk2>
        <a:srgbClr val="35402F"/>
      </a:dk2>
      <a:lt2>
        <a:srgbClr val="CAD3CB"/>
      </a:lt2>
      <a:accent1>
        <a:srgbClr val="CE6E4C"/>
      </a:accent1>
      <a:accent2>
        <a:srgbClr val="A85334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